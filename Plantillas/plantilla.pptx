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7646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6823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86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3803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031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804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205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5281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324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565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169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3161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49970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5814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7834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7661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268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49DDE41-00EB-42F2-9685-F7738045EE95}" type="datetimeFigureOut">
              <a:rPr lang="es-EC" smtClean="0"/>
              <a:t>10/2/2026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9478465-5493-48C5-8F09-C382521C17E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892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microsoft.com/office/2007/relationships/hdphoto" Target="../media/hdphoto1.wdp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3.svg"/><Relationship Id="rId5" Type="http://schemas.openxmlformats.org/officeDocument/2006/relationships/image" Target="../media/image3.sv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09416C6-5C8F-944C-90C0-92C238D3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8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C90776-4965-9256-E121-EDD05D386F9D}"/>
              </a:ext>
            </a:extLst>
          </p:cNvPr>
          <p:cNvSpPr txBox="1"/>
          <p:nvPr/>
        </p:nvSpPr>
        <p:spPr>
          <a:xfrm>
            <a:off x="0" y="0"/>
            <a:ext cx="14603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bg1"/>
                </a:solidFill>
              </a:rPr>
              <a:t>RBlJosé</a:t>
            </a:r>
            <a:r>
              <a:rPr lang="es-ES" sz="1100" dirty="0">
                <a:solidFill>
                  <a:schemeClr val="bg1"/>
                </a:solidFill>
              </a:rPr>
              <a:t> Data Análisis</a:t>
            </a:r>
            <a:endParaRPr lang="es-EC" sz="110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B2439E-8952-8352-9DEF-8FE1AEABB4C7}"/>
              </a:ext>
            </a:extLst>
          </p:cNvPr>
          <p:cNvSpPr txBox="1"/>
          <p:nvPr/>
        </p:nvSpPr>
        <p:spPr>
          <a:xfrm>
            <a:off x="3292077" y="0"/>
            <a:ext cx="7267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Comportamiento de clientes  </a:t>
            </a:r>
            <a:endParaRPr lang="es-EC" sz="3600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AD7EC74-3702-CBA8-C9FC-BAEB0D45C404}"/>
              </a:ext>
            </a:extLst>
          </p:cNvPr>
          <p:cNvSpPr/>
          <p:nvPr/>
        </p:nvSpPr>
        <p:spPr>
          <a:xfrm>
            <a:off x="128588" y="652164"/>
            <a:ext cx="2571750" cy="60904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CD2CDBD-C57A-6155-E74A-FDAB6E1FE4A4}"/>
              </a:ext>
            </a:extLst>
          </p:cNvPr>
          <p:cNvSpPr/>
          <p:nvPr/>
        </p:nvSpPr>
        <p:spPr>
          <a:xfrm>
            <a:off x="2828925" y="652164"/>
            <a:ext cx="3009900" cy="151953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B9B8C1-E1AF-03EA-0391-56F7D365447C}"/>
              </a:ext>
            </a:extLst>
          </p:cNvPr>
          <p:cNvSpPr/>
          <p:nvPr/>
        </p:nvSpPr>
        <p:spPr>
          <a:xfrm>
            <a:off x="2828924" y="2457449"/>
            <a:ext cx="3009900" cy="22288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8E918CE-5401-EBB0-EF50-E732CAADCFAC}"/>
              </a:ext>
            </a:extLst>
          </p:cNvPr>
          <p:cNvSpPr/>
          <p:nvPr/>
        </p:nvSpPr>
        <p:spPr>
          <a:xfrm>
            <a:off x="9058271" y="2457450"/>
            <a:ext cx="2876554" cy="22288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15CDEA1-97FB-B71C-2C65-BDAEC90E90DC}"/>
              </a:ext>
            </a:extLst>
          </p:cNvPr>
          <p:cNvSpPr/>
          <p:nvPr/>
        </p:nvSpPr>
        <p:spPr>
          <a:xfrm>
            <a:off x="2828924" y="4840932"/>
            <a:ext cx="4467225" cy="190165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D3E9EFF5-2D7B-78AC-22A1-8E56650532B9}"/>
              </a:ext>
            </a:extLst>
          </p:cNvPr>
          <p:cNvSpPr/>
          <p:nvPr/>
        </p:nvSpPr>
        <p:spPr>
          <a:xfrm>
            <a:off x="5967409" y="2457450"/>
            <a:ext cx="2962277" cy="22288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C73D88D-CA73-605C-4CDA-579E733DD235}"/>
              </a:ext>
            </a:extLst>
          </p:cNvPr>
          <p:cNvSpPr/>
          <p:nvPr/>
        </p:nvSpPr>
        <p:spPr>
          <a:xfrm>
            <a:off x="7424737" y="4840932"/>
            <a:ext cx="4638675" cy="190165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4554E572-3FE6-E02D-84BA-DB02EF3DD951}"/>
              </a:ext>
            </a:extLst>
          </p:cNvPr>
          <p:cNvSpPr/>
          <p:nvPr/>
        </p:nvSpPr>
        <p:spPr>
          <a:xfrm>
            <a:off x="5919787" y="652164"/>
            <a:ext cx="3009900" cy="151953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6002D0C-C747-A8BE-10B8-1D41E741E61D}"/>
              </a:ext>
            </a:extLst>
          </p:cNvPr>
          <p:cNvSpPr/>
          <p:nvPr/>
        </p:nvSpPr>
        <p:spPr>
          <a:xfrm>
            <a:off x="9081587" y="652164"/>
            <a:ext cx="3009900" cy="1519536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A40D73D-E9D4-D585-49AF-E061F58B719D}"/>
              </a:ext>
            </a:extLst>
          </p:cNvPr>
          <p:cNvSpPr txBox="1"/>
          <p:nvPr/>
        </p:nvSpPr>
        <p:spPr>
          <a:xfrm>
            <a:off x="3292077" y="167541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Número de clientes</a:t>
            </a:r>
            <a:endParaRPr lang="es-EC" b="1" dirty="0">
              <a:solidFill>
                <a:schemeClr val="bg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B8F950A-E8F8-E796-D95F-78667B242C31}"/>
              </a:ext>
            </a:extLst>
          </p:cNvPr>
          <p:cNvSpPr txBox="1"/>
          <p:nvPr/>
        </p:nvSpPr>
        <p:spPr>
          <a:xfrm>
            <a:off x="6315072" y="1680731"/>
            <a:ext cx="2266950" cy="37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Promedio de gastos </a:t>
            </a:r>
            <a:endParaRPr lang="es-EC" b="1" dirty="0">
              <a:solidFill>
                <a:schemeClr val="bg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F693A43-8305-BBEC-771D-EFADF0ADDBF2}"/>
              </a:ext>
            </a:extLst>
          </p:cNvPr>
          <p:cNvSpPr txBox="1"/>
          <p:nvPr/>
        </p:nvSpPr>
        <p:spPr>
          <a:xfrm>
            <a:off x="9363076" y="1685493"/>
            <a:ext cx="2571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Calificación Promedio </a:t>
            </a:r>
            <a:endParaRPr lang="es-EC" b="1" dirty="0">
              <a:solidFill>
                <a:schemeClr val="bg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80C9F29-A5ED-8131-DEBA-BB201EED9B10}"/>
              </a:ext>
            </a:extLst>
          </p:cNvPr>
          <p:cNvSpPr txBox="1"/>
          <p:nvPr/>
        </p:nvSpPr>
        <p:spPr>
          <a:xfrm>
            <a:off x="2869406" y="261667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Número de clientes por estado de suscripción </a:t>
            </a:r>
            <a:endParaRPr lang="es-EC" sz="1050" b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B684246-CE05-243E-8C4A-FC057922F506}"/>
              </a:ext>
            </a:extLst>
          </p:cNvPr>
          <p:cNvSpPr txBox="1"/>
          <p:nvPr/>
        </p:nvSpPr>
        <p:spPr>
          <a:xfrm>
            <a:off x="6048376" y="261667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Ingresos por categorías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22BB99-7404-ADB0-0429-827FD85C88BC}"/>
              </a:ext>
            </a:extLst>
          </p:cNvPr>
          <p:cNvSpPr txBox="1"/>
          <p:nvPr/>
        </p:nvSpPr>
        <p:spPr>
          <a:xfrm>
            <a:off x="9145882" y="261667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Ventas por categorías</a:t>
            </a:r>
            <a:endParaRPr lang="es-EC" sz="1050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F769974-AA69-6D16-D04F-E1D463F01A73}"/>
              </a:ext>
            </a:extLst>
          </p:cNvPr>
          <p:cNvSpPr txBox="1"/>
          <p:nvPr/>
        </p:nvSpPr>
        <p:spPr>
          <a:xfrm>
            <a:off x="2957514" y="492867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Ingresos por grupo de edad</a:t>
            </a:r>
            <a:endParaRPr lang="es-EC" sz="105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3AA299-B7AF-BD1D-A530-DB8360A535D9}"/>
              </a:ext>
            </a:extLst>
          </p:cNvPr>
          <p:cNvSpPr txBox="1"/>
          <p:nvPr/>
        </p:nvSpPr>
        <p:spPr>
          <a:xfrm>
            <a:off x="7637807" y="492867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Ventas por grupo de edad</a:t>
            </a:r>
            <a:endParaRPr lang="es-EC" sz="1050" b="1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47CEAE-B96F-D739-67F2-B3190CD36574}"/>
              </a:ext>
            </a:extLst>
          </p:cNvPr>
          <p:cNvSpPr txBox="1"/>
          <p:nvPr/>
        </p:nvSpPr>
        <p:spPr>
          <a:xfrm>
            <a:off x="365469" y="844673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Estado de suscripción </a:t>
            </a:r>
            <a:endParaRPr lang="es-EC" sz="1600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E1DC718-2F8D-9332-381D-2780E0907F14}"/>
              </a:ext>
            </a:extLst>
          </p:cNvPr>
          <p:cNvSpPr txBox="1"/>
          <p:nvPr/>
        </p:nvSpPr>
        <p:spPr>
          <a:xfrm>
            <a:off x="366713" y="1778765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Genero </a:t>
            </a:r>
            <a:endParaRPr lang="es-EC" sz="1600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E711656-C334-663F-94EE-B489B3B31585}"/>
              </a:ext>
            </a:extLst>
          </p:cNvPr>
          <p:cNvSpPr txBox="1"/>
          <p:nvPr/>
        </p:nvSpPr>
        <p:spPr>
          <a:xfrm>
            <a:off x="366713" y="2828421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Categoría</a:t>
            </a:r>
            <a:endParaRPr lang="es-EC" sz="1600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98FC638-6682-CFEA-C8C8-3E9C47269D0F}"/>
              </a:ext>
            </a:extLst>
          </p:cNvPr>
          <p:cNvSpPr txBox="1"/>
          <p:nvPr/>
        </p:nvSpPr>
        <p:spPr>
          <a:xfrm>
            <a:off x="365469" y="4671655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Tipo de envió </a:t>
            </a:r>
            <a:endParaRPr lang="es-EC" sz="1600" b="1" dirty="0"/>
          </a:p>
        </p:txBody>
      </p:sp>
    </p:spTree>
    <p:extLst>
      <p:ext uri="{BB962C8B-B14F-4D97-AF65-F5344CB8AC3E}">
        <p14:creationId xmlns:p14="http://schemas.microsoft.com/office/powerpoint/2010/main" val="213401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09416C6-5C8F-944C-90C0-92C238D3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8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C90776-4965-9256-E121-EDD05D386F9D}"/>
              </a:ext>
            </a:extLst>
          </p:cNvPr>
          <p:cNvSpPr txBox="1"/>
          <p:nvPr/>
        </p:nvSpPr>
        <p:spPr>
          <a:xfrm>
            <a:off x="0" y="0"/>
            <a:ext cx="14603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bg1"/>
                </a:solidFill>
              </a:rPr>
              <a:t>RBlJosé</a:t>
            </a:r>
            <a:r>
              <a:rPr lang="es-ES" sz="1100" dirty="0">
                <a:solidFill>
                  <a:schemeClr val="bg1"/>
                </a:solidFill>
              </a:rPr>
              <a:t> Data Análisis</a:t>
            </a:r>
            <a:endParaRPr lang="es-EC" sz="110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B2439E-8952-8352-9DEF-8FE1AEABB4C7}"/>
              </a:ext>
            </a:extLst>
          </p:cNvPr>
          <p:cNvSpPr txBox="1"/>
          <p:nvPr/>
        </p:nvSpPr>
        <p:spPr>
          <a:xfrm>
            <a:off x="2813020" y="-27677"/>
            <a:ext cx="9634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000" b="1" dirty="0"/>
              <a:t>Resumen del comportamiento del cliente</a:t>
            </a:r>
            <a:endParaRPr lang="es-EC" sz="6600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AD7EC74-3702-CBA8-C9FC-BAEB0D45C404}"/>
              </a:ext>
            </a:extLst>
          </p:cNvPr>
          <p:cNvSpPr/>
          <p:nvPr/>
        </p:nvSpPr>
        <p:spPr>
          <a:xfrm>
            <a:off x="76509" y="289286"/>
            <a:ext cx="2571750" cy="64414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B9B8C1-E1AF-03EA-0391-56F7D365447C}"/>
              </a:ext>
            </a:extLst>
          </p:cNvPr>
          <p:cNvSpPr/>
          <p:nvPr/>
        </p:nvSpPr>
        <p:spPr>
          <a:xfrm>
            <a:off x="2828924" y="2026965"/>
            <a:ext cx="4467226" cy="22288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8E918CE-5401-EBB0-EF50-E732CAADCFAC}"/>
              </a:ext>
            </a:extLst>
          </p:cNvPr>
          <p:cNvSpPr/>
          <p:nvPr/>
        </p:nvSpPr>
        <p:spPr>
          <a:xfrm>
            <a:off x="7424736" y="2080753"/>
            <a:ext cx="4602456" cy="22288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15CDEA1-97FB-B71C-2C65-BDAEC90E90DC}"/>
              </a:ext>
            </a:extLst>
          </p:cNvPr>
          <p:cNvSpPr/>
          <p:nvPr/>
        </p:nvSpPr>
        <p:spPr>
          <a:xfrm>
            <a:off x="2828924" y="4437415"/>
            <a:ext cx="446722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C73D88D-CA73-605C-4CDA-579E733DD235}"/>
              </a:ext>
            </a:extLst>
          </p:cNvPr>
          <p:cNvSpPr/>
          <p:nvPr/>
        </p:nvSpPr>
        <p:spPr>
          <a:xfrm>
            <a:off x="7424737" y="4437415"/>
            <a:ext cx="463867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80C9F29-A5ED-8131-DEBA-BB201EED9B10}"/>
              </a:ext>
            </a:extLst>
          </p:cNvPr>
          <p:cNvSpPr txBox="1"/>
          <p:nvPr/>
        </p:nvSpPr>
        <p:spPr>
          <a:xfrm>
            <a:off x="2882269" y="2238884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Número de clientes por Compras frecuentes</a:t>
            </a:r>
            <a:endParaRPr lang="es-EC" sz="105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22BB99-7404-ADB0-0429-827FD85C88BC}"/>
              </a:ext>
            </a:extLst>
          </p:cNvPr>
          <p:cNvSpPr txBox="1"/>
          <p:nvPr/>
        </p:nvSpPr>
        <p:spPr>
          <a:xfrm>
            <a:off x="7514683" y="2238884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Clientes únicos por categorías</a:t>
            </a:r>
            <a:endParaRPr lang="es-EC" sz="1050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F769974-AA69-6D16-D04F-E1D463F01A73}"/>
              </a:ext>
            </a:extLst>
          </p:cNvPr>
          <p:cNvSpPr txBox="1"/>
          <p:nvPr/>
        </p:nvSpPr>
        <p:spPr>
          <a:xfrm>
            <a:off x="2956944" y="462181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Clientes Recurrentes (%) por categoría</a:t>
            </a:r>
            <a:endParaRPr lang="es-EC" sz="105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3AA299-B7AF-BD1D-A530-DB8360A535D9}"/>
              </a:ext>
            </a:extLst>
          </p:cNvPr>
          <p:cNvSpPr txBox="1"/>
          <p:nvPr/>
        </p:nvSpPr>
        <p:spPr>
          <a:xfrm>
            <a:off x="7514683" y="4587016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Clientes suscritos (%) por genero</a:t>
            </a:r>
            <a:endParaRPr lang="es-EC" sz="1050" b="1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47CEAE-B96F-D739-67F2-B3190CD36574}"/>
              </a:ext>
            </a:extLst>
          </p:cNvPr>
          <p:cNvSpPr txBox="1"/>
          <p:nvPr/>
        </p:nvSpPr>
        <p:spPr>
          <a:xfrm>
            <a:off x="314634" y="1888444"/>
            <a:ext cx="2212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Estado de suscripción </a:t>
            </a:r>
            <a:endParaRPr lang="es-EC" sz="1600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E1DC718-2F8D-9332-381D-2780E0907F14}"/>
              </a:ext>
            </a:extLst>
          </p:cNvPr>
          <p:cNvSpPr txBox="1"/>
          <p:nvPr/>
        </p:nvSpPr>
        <p:spPr>
          <a:xfrm>
            <a:off x="365469" y="501777"/>
            <a:ext cx="1790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Genero </a:t>
            </a:r>
            <a:endParaRPr lang="es-EC" sz="1600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E711656-C334-663F-94EE-B489B3B31585}"/>
              </a:ext>
            </a:extLst>
          </p:cNvPr>
          <p:cNvSpPr txBox="1"/>
          <p:nvPr/>
        </p:nvSpPr>
        <p:spPr>
          <a:xfrm>
            <a:off x="314634" y="3275112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Categoría</a:t>
            </a:r>
            <a:endParaRPr lang="es-EC" sz="1600" b="1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6BDEE7C-5426-55BC-2415-A15B4F6D4EAF}"/>
              </a:ext>
            </a:extLst>
          </p:cNvPr>
          <p:cNvSpPr/>
          <p:nvPr/>
        </p:nvSpPr>
        <p:spPr>
          <a:xfrm>
            <a:off x="2828925" y="734668"/>
            <a:ext cx="2153926" cy="110820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98FC638-6682-CFEA-C8C8-3E9C47269D0F}"/>
              </a:ext>
            </a:extLst>
          </p:cNvPr>
          <p:cNvSpPr txBox="1"/>
          <p:nvPr/>
        </p:nvSpPr>
        <p:spPr>
          <a:xfrm>
            <a:off x="365469" y="5251445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Ubicación </a:t>
            </a:r>
            <a:endParaRPr lang="es-EC" sz="1600" b="1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A903FBB-E870-622D-7758-2B561BDF269D}"/>
              </a:ext>
            </a:extLst>
          </p:cNvPr>
          <p:cNvSpPr/>
          <p:nvPr/>
        </p:nvSpPr>
        <p:spPr>
          <a:xfrm>
            <a:off x="9797196" y="704503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B1431AE-6BEA-DDE8-227C-31BE69A2569D}"/>
              </a:ext>
            </a:extLst>
          </p:cNvPr>
          <p:cNvSpPr/>
          <p:nvPr/>
        </p:nvSpPr>
        <p:spPr>
          <a:xfrm>
            <a:off x="7514683" y="729809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9A7080-7647-BC46-309D-14F95706529A}"/>
              </a:ext>
            </a:extLst>
          </p:cNvPr>
          <p:cNvSpPr/>
          <p:nvPr/>
        </p:nvSpPr>
        <p:spPr>
          <a:xfrm>
            <a:off x="5187741" y="729809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A40D73D-E9D4-D585-49AF-E061F58B719D}"/>
              </a:ext>
            </a:extLst>
          </p:cNvPr>
          <p:cNvSpPr txBox="1"/>
          <p:nvPr/>
        </p:nvSpPr>
        <p:spPr>
          <a:xfrm>
            <a:off x="3202839" y="1458521"/>
            <a:ext cx="159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únicos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1B05F9-F4E8-FB57-AC60-4537289A5E7C}"/>
              </a:ext>
            </a:extLst>
          </p:cNvPr>
          <p:cNvSpPr txBox="1"/>
          <p:nvPr/>
        </p:nvSpPr>
        <p:spPr>
          <a:xfrm>
            <a:off x="9915679" y="1462683"/>
            <a:ext cx="1971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Suscritos (%)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95C23D-1923-D176-BA2C-968EE2581040}"/>
              </a:ext>
            </a:extLst>
          </p:cNvPr>
          <p:cNvSpPr txBox="1"/>
          <p:nvPr/>
        </p:nvSpPr>
        <p:spPr>
          <a:xfrm>
            <a:off x="7630212" y="1458520"/>
            <a:ext cx="1926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Frecuencia de compras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0E5448-62DD-4D99-36A5-FC8A833FA1BF}"/>
              </a:ext>
            </a:extLst>
          </p:cNvPr>
          <p:cNvSpPr txBox="1"/>
          <p:nvPr/>
        </p:nvSpPr>
        <p:spPr>
          <a:xfrm>
            <a:off x="5258610" y="1461403"/>
            <a:ext cx="217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Recurrentes (%)</a:t>
            </a:r>
            <a:endParaRPr lang="es-EC" sz="1400" b="1" dirty="0">
              <a:solidFill>
                <a:schemeClr val="bg1"/>
              </a:solidFill>
            </a:endParaRPr>
          </a:p>
        </p:txBody>
      </p:sp>
      <p:pic>
        <p:nvPicPr>
          <p:cNvPr id="9" name="Gráfico 8" descr="Grupo de hombres">
            <a:extLst>
              <a:ext uri="{FF2B5EF4-FFF2-40B4-BE49-F238E27FC236}">
                <a16:creationId xmlns:a16="http://schemas.microsoft.com/office/drawing/2014/main" id="{2BC2BB12-3E94-063A-4724-9C80BB0C8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8819" y="760200"/>
            <a:ext cx="335406" cy="335406"/>
          </a:xfrm>
          <a:prstGeom prst="rect">
            <a:avLst/>
          </a:prstGeom>
        </p:spPr>
      </p:pic>
      <p:pic>
        <p:nvPicPr>
          <p:cNvPr id="15" name="Gráfico 14" descr="Usuario">
            <a:extLst>
              <a:ext uri="{FF2B5EF4-FFF2-40B4-BE49-F238E27FC236}">
                <a16:creationId xmlns:a16="http://schemas.microsoft.com/office/drawing/2014/main" id="{CDAD2D3A-2268-36EC-06E1-7EB8B10C54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6492" y="741531"/>
            <a:ext cx="334800" cy="334800"/>
          </a:xfrm>
          <a:prstGeom prst="rect">
            <a:avLst/>
          </a:prstGeom>
        </p:spPr>
      </p:pic>
      <p:pic>
        <p:nvPicPr>
          <p:cNvPr id="17" name="Gráfico 16" descr="Bolsa para la compra">
            <a:extLst>
              <a:ext uri="{FF2B5EF4-FFF2-40B4-BE49-F238E27FC236}">
                <a16:creationId xmlns:a16="http://schemas.microsoft.com/office/drawing/2014/main" id="{42829E74-F949-D289-6B81-AEE2DE82DB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3809" y="754978"/>
            <a:ext cx="334800" cy="334800"/>
          </a:xfrm>
          <a:prstGeom prst="rect">
            <a:avLst/>
          </a:prstGeom>
        </p:spPr>
      </p:pic>
      <p:pic>
        <p:nvPicPr>
          <p:cNvPr id="23" name="Gráfico 22" descr="Reseña de cliente">
            <a:extLst>
              <a:ext uri="{FF2B5EF4-FFF2-40B4-BE49-F238E27FC236}">
                <a16:creationId xmlns:a16="http://schemas.microsoft.com/office/drawing/2014/main" id="{6DC4633C-14EF-D116-007F-3BEB7311F7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93177" y="741531"/>
            <a:ext cx="334800" cy="334800"/>
          </a:xfrm>
          <a:prstGeom prst="rect">
            <a:avLst/>
          </a:prstGeom>
        </p:spPr>
      </p:pic>
      <p:pic>
        <p:nvPicPr>
          <p:cNvPr id="24" name="Gráfico 23" descr="Grupo de hombres">
            <a:extLst>
              <a:ext uri="{FF2B5EF4-FFF2-40B4-BE49-F238E27FC236}">
                <a16:creationId xmlns:a16="http://schemas.microsoft.com/office/drawing/2014/main" id="{474AE1F5-688E-110A-BF6D-3BF98FE449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11116" y="2165368"/>
            <a:ext cx="335406" cy="335406"/>
          </a:xfrm>
          <a:prstGeom prst="rect">
            <a:avLst/>
          </a:prstGeom>
        </p:spPr>
      </p:pic>
      <p:pic>
        <p:nvPicPr>
          <p:cNvPr id="26" name="Gráfico 25" descr="Usuario">
            <a:extLst>
              <a:ext uri="{FF2B5EF4-FFF2-40B4-BE49-F238E27FC236}">
                <a16:creationId xmlns:a16="http://schemas.microsoft.com/office/drawing/2014/main" id="{012CF8B3-5798-9B88-DB41-643CFF565B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01797" y="2130793"/>
            <a:ext cx="334800" cy="334800"/>
          </a:xfrm>
          <a:prstGeom prst="rect">
            <a:avLst/>
          </a:prstGeom>
        </p:spPr>
      </p:pic>
      <p:pic>
        <p:nvPicPr>
          <p:cNvPr id="29" name="Gráfico 28" descr="Hombre y mujer">
            <a:extLst>
              <a:ext uri="{FF2B5EF4-FFF2-40B4-BE49-F238E27FC236}">
                <a16:creationId xmlns:a16="http://schemas.microsoft.com/office/drawing/2014/main" id="{1752DE7B-9090-E236-AB7F-BE17CE4E32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09391" y="4533974"/>
            <a:ext cx="360000" cy="360000"/>
          </a:xfrm>
          <a:prstGeom prst="rect">
            <a:avLst/>
          </a:prstGeom>
        </p:spPr>
      </p:pic>
      <p:pic>
        <p:nvPicPr>
          <p:cNvPr id="33" name="Gráfico 32" descr="Lingotes de oro">
            <a:extLst>
              <a:ext uri="{FF2B5EF4-FFF2-40B4-BE49-F238E27FC236}">
                <a16:creationId xmlns:a16="http://schemas.microsoft.com/office/drawing/2014/main" id="{FFCBFBBF-04EE-FC8A-3DD8-08A93FAF4AC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11116" y="451572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0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09416C6-5C8F-944C-90C0-92C238D3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8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C90776-4965-9256-E121-EDD05D386F9D}"/>
              </a:ext>
            </a:extLst>
          </p:cNvPr>
          <p:cNvSpPr txBox="1"/>
          <p:nvPr/>
        </p:nvSpPr>
        <p:spPr>
          <a:xfrm>
            <a:off x="0" y="0"/>
            <a:ext cx="14603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bg1"/>
                </a:solidFill>
              </a:rPr>
              <a:t>RBlJosé</a:t>
            </a:r>
            <a:r>
              <a:rPr lang="es-ES" sz="1100" dirty="0">
                <a:solidFill>
                  <a:schemeClr val="bg1"/>
                </a:solidFill>
              </a:rPr>
              <a:t> Data Análisis</a:t>
            </a:r>
            <a:endParaRPr lang="es-EC" sz="110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B2439E-8952-8352-9DEF-8FE1AEABB4C7}"/>
              </a:ext>
            </a:extLst>
          </p:cNvPr>
          <p:cNvSpPr txBox="1"/>
          <p:nvPr/>
        </p:nvSpPr>
        <p:spPr>
          <a:xfrm>
            <a:off x="4177985" y="-782"/>
            <a:ext cx="6520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Rendimiento de Productos y Ventas</a:t>
            </a:r>
            <a:endParaRPr lang="es-EC" sz="9600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AD7EC74-3702-CBA8-C9FC-BAEB0D45C404}"/>
              </a:ext>
            </a:extLst>
          </p:cNvPr>
          <p:cNvSpPr/>
          <p:nvPr/>
        </p:nvSpPr>
        <p:spPr>
          <a:xfrm>
            <a:off x="76509" y="289286"/>
            <a:ext cx="2571750" cy="644142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B9B8C1-E1AF-03EA-0391-56F7D365447C}"/>
              </a:ext>
            </a:extLst>
          </p:cNvPr>
          <p:cNvSpPr/>
          <p:nvPr/>
        </p:nvSpPr>
        <p:spPr>
          <a:xfrm>
            <a:off x="2828924" y="2026965"/>
            <a:ext cx="4467226" cy="22288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8E918CE-5401-EBB0-EF50-E732CAADCFAC}"/>
              </a:ext>
            </a:extLst>
          </p:cNvPr>
          <p:cNvSpPr/>
          <p:nvPr/>
        </p:nvSpPr>
        <p:spPr>
          <a:xfrm>
            <a:off x="7513035" y="2014312"/>
            <a:ext cx="4602456" cy="22288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15CDEA1-97FB-B71C-2C65-BDAEC90E90DC}"/>
              </a:ext>
            </a:extLst>
          </p:cNvPr>
          <p:cNvSpPr/>
          <p:nvPr/>
        </p:nvSpPr>
        <p:spPr>
          <a:xfrm>
            <a:off x="2828924" y="4437415"/>
            <a:ext cx="446722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C73D88D-CA73-605C-4CDA-579E733DD235}"/>
              </a:ext>
            </a:extLst>
          </p:cNvPr>
          <p:cNvSpPr/>
          <p:nvPr/>
        </p:nvSpPr>
        <p:spPr>
          <a:xfrm>
            <a:off x="7513035" y="4424882"/>
            <a:ext cx="463867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80C9F29-A5ED-8131-DEBA-BB201EED9B10}"/>
              </a:ext>
            </a:extLst>
          </p:cNvPr>
          <p:cNvSpPr txBox="1"/>
          <p:nvPr/>
        </p:nvSpPr>
        <p:spPr>
          <a:xfrm>
            <a:off x="2882269" y="2238884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Ingresos totales por categoría </a:t>
            </a:r>
            <a:endParaRPr lang="es-EC" sz="105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22BB99-7404-ADB0-0429-827FD85C88BC}"/>
              </a:ext>
            </a:extLst>
          </p:cNvPr>
          <p:cNvSpPr txBox="1"/>
          <p:nvPr/>
        </p:nvSpPr>
        <p:spPr>
          <a:xfrm>
            <a:off x="7514683" y="2184147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Ingresos totales por producto</a:t>
            </a:r>
            <a:endParaRPr lang="es-EC" sz="1050" b="1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F769974-AA69-6D16-D04F-E1D463F01A73}"/>
              </a:ext>
            </a:extLst>
          </p:cNvPr>
          <p:cNvSpPr txBox="1"/>
          <p:nvPr/>
        </p:nvSpPr>
        <p:spPr>
          <a:xfrm>
            <a:off x="2956944" y="4621813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Descuento (%) por productos comprados</a:t>
            </a:r>
            <a:endParaRPr lang="es-EC" sz="105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3AA299-B7AF-BD1D-A530-DB8360A535D9}"/>
              </a:ext>
            </a:extLst>
          </p:cNvPr>
          <p:cNvSpPr txBox="1"/>
          <p:nvPr/>
        </p:nvSpPr>
        <p:spPr>
          <a:xfrm>
            <a:off x="7514683" y="4587016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Ticket promedio por tipo de envió</a:t>
            </a:r>
            <a:endParaRPr lang="es-EC" sz="1050" b="1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47CEAE-B96F-D739-67F2-B3190CD36574}"/>
              </a:ext>
            </a:extLst>
          </p:cNvPr>
          <p:cNvSpPr txBox="1"/>
          <p:nvPr/>
        </p:nvSpPr>
        <p:spPr>
          <a:xfrm>
            <a:off x="305534" y="1458521"/>
            <a:ext cx="2212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Descuento</a:t>
            </a:r>
            <a:endParaRPr lang="es-EC" sz="1600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E1DC718-2F8D-9332-381D-2780E0907F14}"/>
              </a:ext>
            </a:extLst>
          </p:cNvPr>
          <p:cNvSpPr txBox="1"/>
          <p:nvPr/>
        </p:nvSpPr>
        <p:spPr>
          <a:xfrm>
            <a:off x="365469" y="515328"/>
            <a:ext cx="1790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Genero </a:t>
            </a:r>
            <a:endParaRPr lang="es-EC" sz="1600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E711656-C334-663F-94EE-B489B3B31585}"/>
              </a:ext>
            </a:extLst>
          </p:cNvPr>
          <p:cNvSpPr txBox="1"/>
          <p:nvPr/>
        </p:nvSpPr>
        <p:spPr>
          <a:xfrm>
            <a:off x="314634" y="3275112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Categoría</a:t>
            </a:r>
            <a:endParaRPr lang="es-EC" sz="1600" b="1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6BDEE7C-5426-55BC-2415-A15B4F6D4EAF}"/>
              </a:ext>
            </a:extLst>
          </p:cNvPr>
          <p:cNvSpPr/>
          <p:nvPr/>
        </p:nvSpPr>
        <p:spPr>
          <a:xfrm>
            <a:off x="2828925" y="734668"/>
            <a:ext cx="2153926" cy="110820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98FC638-6682-CFEA-C8C8-3E9C47269D0F}"/>
              </a:ext>
            </a:extLst>
          </p:cNvPr>
          <p:cNvSpPr txBox="1"/>
          <p:nvPr/>
        </p:nvSpPr>
        <p:spPr>
          <a:xfrm>
            <a:off x="321483" y="4922426"/>
            <a:ext cx="209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Tipo de envió </a:t>
            </a:r>
            <a:endParaRPr lang="es-EC" sz="1600" b="1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A903FBB-E870-622D-7758-2B561BDF269D}"/>
              </a:ext>
            </a:extLst>
          </p:cNvPr>
          <p:cNvSpPr/>
          <p:nvPr/>
        </p:nvSpPr>
        <p:spPr>
          <a:xfrm>
            <a:off x="9797196" y="704503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B1431AE-6BEA-DDE8-227C-31BE69A2569D}"/>
              </a:ext>
            </a:extLst>
          </p:cNvPr>
          <p:cNvSpPr/>
          <p:nvPr/>
        </p:nvSpPr>
        <p:spPr>
          <a:xfrm>
            <a:off x="7514683" y="729809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9A7080-7647-BC46-309D-14F95706529A}"/>
              </a:ext>
            </a:extLst>
          </p:cNvPr>
          <p:cNvSpPr/>
          <p:nvPr/>
        </p:nvSpPr>
        <p:spPr>
          <a:xfrm>
            <a:off x="5119879" y="741374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A40D73D-E9D4-D585-49AF-E061F58B719D}"/>
              </a:ext>
            </a:extLst>
          </p:cNvPr>
          <p:cNvSpPr txBox="1"/>
          <p:nvPr/>
        </p:nvSpPr>
        <p:spPr>
          <a:xfrm>
            <a:off x="3202839" y="1458521"/>
            <a:ext cx="159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Ingresos Totales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1B05F9-F4E8-FB57-AC60-4537289A5E7C}"/>
              </a:ext>
            </a:extLst>
          </p:cNvPr>
          <p:cNvSpPr txBox="1"/>
          <p:nvPr/>
        </p:nvSpPr>
        <p:spPr>
          <a:xfrm>
            <a:off x="10211128" y="1449255"/>
            <a:ext cx="1326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Descuento (%)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95C23D-1923-D176-BA2C-968EE2581040}"/>
              </a:ext>
            </a:extLst>
          </p:cNvPr>
          <p:cNvSpPr txBox="1"/>
          <p:nvPr/>
        </p:nvSpPr>
        <p:spPr>
          <a:xfrm>
            <a:off x="7852312" y="1458521"/>
            <a:ext cx="1703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Productos vendidos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0E5448-62DD-4D99-36A5-FC8A833FA1BF}"/>
              </a:ext>
            </a:extLst>
          </p:cNvPr>
          <p:cNvSpPr txBox="1"/>
          <p:nvPr/>
        </p:nvSpPr>
        <p:spPr>
          <a:xfrm>
            <a:off x="5308507" y="1458521"/>
            <a:ext cx="184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Promedio de compra</a:t>
            </a:r>
            <a:endParaRPr lang="es-EC" sz="1400" b="1" dirty="0">
              <a:solidFill>
                <a:schemeClr val="bg1"/>
              </a:solidFill>
            </a:endParaRPr>
          </a:p>
        </p:txBody>
      </p:sp>
      <p:pic>
        <p:nvPicPr>
          <p:cNvPr id="17" name="Gráfico 16" descr="Bolsa para la compra">
            <a:extLst>
              <a:ext uri="{FF2B5EF4-FFF2-40B4-BE49-F238E27FC236}">
                <a16:creationId xmlns:a16="http://schemas.microsoft.com/office/drawing/2014/main" id="{42829E74-F949-D289-6B81-AEE2DE82D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3809" y="754978"/>
            <a:ext cx="334800" cy="334800"/>
          </a:xfrm>
          <a:prstGeom prst="rect">
            <a:avLst/>
          </a:prstGeom>
        </p:spPr>
      </p:pic>
      <p:pic>
        <p:nvPicPr>
          <p:cNvPr id="16" name="Gráfico 15" descr="Dinero">
            <a:extLst>
              <a:ext uri="{FF2B5EF4-FFF2-40B4-BE49-F238E27FC236}">
                <a16:creationId xmlns:a16="http://schemas.microsoft.com/office/drawing/2014/main" id="{3ACA1A59-157C-7C10-42D6-B04A7007D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7655" y="726133"/>
            <a:ext cx="334800" cy="334800"/>
          </a:xfrm>
          <a:prstGeom prst="rect">
            <a:avLst/>
          </a:prstGeom>
        </p:spPr>
      </p:pic>
      <p:pic>
        <p:nvPicPr>
          <p:cNvPr id="24" name="Gráfico 23" descr="Dólar">
            <a:extLst>
              <a:ext uri="{FF2B5EF4-FFF2-40B4-BE49-F238E27FC236}">
                <a16:creationId xmlns:a16="http://schemas.microsoft.com/office/drawing/2014/main" id="{55ECBFFC-BA18-4ED6-73C3-00BABDDC7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8051" y="795912"/>
            <a:ext cx="334800" cy="334800"/>
          </a:xfrm>
          <a:prstGeom prst="rect">
            <a:avLst/>
          </a:prstGeom>
        </p:spPr>
      </p:pic>
      <p:pic>
        <p:nvPicPr>
          <p:cNvPr id="27" name="Gráfico 26" descr="Etiqueta">
            <a:extLst>
              <a:ext uri="{FF2B5EF4-FFF2-40B4-BE49-F238E27FC236}">
                <a16:creationId xmlns:a16="http://schemas.microsoft.com/office/drawing/2014/main" id="{C4607BCB-82A2-E16C-0971-F04C3ADACC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5929" y="4587626"/>
            <a:ext cx="360000" cy="3600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453C789F-AC1A-B0BD-D0BB-3730842B7229}"/>
              </a:ext>
            </a:extLst>
          </p:cNvPr>
          <p:cNvSpPr txBox="1"/>
          <p:nvPr/>
        </p:nvSpPr>
        <p:spPr>
          <a:xfrm>
            <a:off x="321483" y="2365842"/>
            <a:ext cx="2212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Producto comprado</a:t>
            </a:r>
            <a:endParaRPr lang="es-EC" sz="1600" b="1" dirty="0"/>
          </a:p>
        </p:txBody>
      </p:sp>
      <p:pic>
        <p:nvPicPr>
          <p:cNvPr id="33" name="Gráfico 32" descr="Monedas">
            <a:extLst>
              <a:ext uri="{FF2B5EF4-FFF2-40B4-BE49-F238E27FC236}">
                <a16:creationId xmlns:a16="http://schemas.microsoft.com/office/drawing/2014/main" id="{869CACE1-6D6B-4331-9701-186F315E98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90648" y="2103223"/>
            <a:ext cx="360000" cy="360000"/>
          </a:xfrm>
          <a:prstGeom prst="rect">
            <a:avLst/>
          </a:prstGeom>
        </p:spPr>
      </p:pic>
      <p:pic>
        <p:nvPicPr>
          <p:cNvPr id="40" name="Gráfico 39" descr="Caja">
            <a:extLst>
              <a:ext uri="{FF2B5EF4-FFF2-40B4-BE49-F238E27FC236}">
                <a16:creationId xmlns:a16="http://schemas.microsoft.com/office/drawing/2014/main" id="{C7EC17ED-BBF9-407A-31D0-B86B309338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07898" y="4513984"/>
            <a:ext cx="360000" cy="360000"/>
          </a:xfrm>
          <a:prstGeom prst="rect">
            <a:avLst/>
          </a:prstGeom>
        </p:spPr>
      </p:pic>
      <p:pic>
        <p:nvPicPr>
          <p:cNvPr id="41" name="Gráfico 40" descr="Monedas">
            <a:extLst>
              <a:ext uri="{FF2B5EF4-FFF2-40B4-BE49-F238E27FC236}">
                <a16:creationId xmlns:a16="http://schemas.microsoft.com/office/drawing/2014/main" id="{4C87317F-257B-17E3-983D-8681CD14F1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607898" y="2111558"/>
            <a:ext cx="360000" cy="360000"/>
          </a:xfrm>
          <a:prstGeom prst="rect">
            <a:avLst/>
          </a:prstGeom>
        </p:spPr>
      </p:pic>
      <p:pic>
        <p:nvPicPr>
          <p:cNvPr id="42" name="Gráfico 41" descr="Etiqueta">
            <a:extLst>
              <a:ext uri="{FF2B5EF4-FFF2-40B4-BE49-F238E27FC236}">
                <a16:creationId xmlns:a16="http://schemas.microsoft.com/office/drawing/2014/main" id="{897F9435-1976-1AEF-1AB5-361356B063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542390" y="74768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3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09416C6-5C8F-944C-90C0-92C238D3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08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637222D-E978-6589-B5C6-50760E438BAB}"/>
              </a:ext>
            </a:extLst>
          </p:cNvPr>
          <p:cNvSpPr/>
          <p:nvPr/>
        </p:nvSpPr>
        <p:spPr>
          <a:xfrm>
            <a:off x="50369" y="261611"/>
            <a:ext cx="2695540" cy="16805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C90776-4965-9256-E121-EDD05D386F9D}"/>
              </a:ext>
            </a:extLst>
          </p:cNvPr>
          <p:cNvSpPr txBox="1"/>
          <p:nvPr/>
        </p:nvSpPr>
        <p:spPr>
          <a:xfrm>
            <a:off x="0" y="0"/>
            <a:ext cx="14603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solidFill>
                  <a:schemeClr val="bg1"/>
                </a:solidFill>
              </a:rPr>
              <a:t>RBlJosé</a:t>
            </a:r>
            <a:r>
              <a:rPr lang="es-ES" sz="1100" dirty="0">
                <a:solidFill>
                  <a:schemeClr val="bg1"/>
                </a:solidFill>
              </a:rPr>
              <a:t> Data Análisis</a:t>
            </a:r>
            <a:endParaRPr lang="es-EC" sz="110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BB2439E-8952-8352-9DEF-8FE1AEABB4C7}"/>
              </a:ext>
            </a:extLst>
          </p:cNvPr>
          <p:cNvSpPr txBox="1"/>
          <p:nvPr/>
        </p:nvSpPr>
        <p:spPr>
          <a:xfrm>
            <a:off x="3529213" y="-782"/>
            <a:ext cx="7789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Comportamiento del cliente y geografía</a:t>
            </a:r>
            <a:endParaRPr lang="es-EC" sz="3200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AD7EC74-3702-CBA8-C9FC-BAEB0D45C404}"/>
              </a:ext>
            </a:extLst>
          </p:cNvPr>
          <p:cNvSpPr/>
          <p:nvPr/>
        </p:nvSpPr>
        <p:spPr>
          <a:xfrm>
            <a:off x="76509" y="2014312"/>
            <a:ext cx="2789110" cy="471639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AB9B8C1-E1AF-03EA-0391-56F7D365447C}"/>
              </a:ext>
            </a:extLst>
          </p:cNvPr>
          <p:cNvSpPr/>
          <p:nvPr/>
        </p:nvSpPr>
        <p:spPr>
          <a:xfrm>
            <a:off x="2956944" y="2050339"/>
            <a:ext cx="4467226" cy="22288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8E918CE-5401-EBB0-EF50-E732CAADCFAC}"/>
              </a:ext>
            </a:extLst>
          </p:cNvPr>
          <p:cNvSpPr/>
          <p:nvPr/>
        </p:nvSpPr>
        <p:spPr>
          <a:xfrm>
            <a:off x="7513035" y="2014312"/>
            <a:ext cx="4602456" cy="22288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15CDEA1-97FB-B71C-2C65-BDAEC90E90DC}"/>
              </a:ext>
            </a:extLst>
          </p:cNvPr>
          <p:cNvSpPr/>
          <p:nvPr/>
        </p:nvSpPr>
        <p:spPr>
          <a:xfrm>
            <a:off x="2956945" y="4432385"/>
            <a:ext cx="446722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C73D88D-CA73-605C-4CDA-579E733DD235}"/>
              </a:ext>
            </a:extLst>
          </p:cNvPr>
          <p:cNvSpPr/>
          <p:nvPr/>
        </p:nvSpPr>
        <p:spPr>
          <a:xfrm>
            <a:off x="7513035" y="4424882"/>
            <a:ext cx="4638675" cy="23051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80C9F29-A5ED-8131-DEBA-BB201EED9B10}"/>
              </a:ext>
            </a:extLst>
          </p:cNvPr>
          <p:cNvSpPr txBox="1"/>
          <p:nvPr/>
        </p:nvSpPr>
        <p:spPr>
          <a:xfrm>
            <a:off x="3103860" y="2237080"/>
            <a:ext cx="28813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Recuento de clientes por suscripción y segmento de cliente</a:t>
            </a:r>
            <a:endParaRPr lang="es-EC" sz="1050" b="1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22BB99-7404-ADB0-0429-827FD85C88BC}"/>
              </a:ext>
            </a:extLst>
          </p:cNvPr>
          <p:cNvSpPr txBox="1"/>
          <p:nvPr/>
        </p:nvSpPr>
        <p:spPr>
          <a:xfrm>
            <a:off x="7514683" y="2184147"/>
            <a:ext cx="28813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Promedio de frecuencia de compras (días) por segmento de cliente </a:t>
            </a:r>
            <a:endParaRPr lang="es-EC" sz="105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3AA299-B7AF-BD1D-A530-DB8360A535D9}"/>
              </a:ext>
            </a:extLst>
          </p:cNvPr>
          <p:cNvSpPr txBox="1"/>
          <p:nvPr/>
        </p:nvSpPr>
        <p:spPr>
          <a:xfrm>
            <a:off x="7514683" y="4587016"/>
            <a:ext cx="28813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Clientes por método de pago</a:t>
            </a:r>
            <a:endParaRPr lang="es-EC" sz="1050" b="1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47CEAE-B96F-D739-67F2-B3190CD36574}"/>
              </a:ext>
            </a:extLst>
          </p:cNvPr>
          <p:cNvSpPr txBox="1"/>
          <p:nvPr/>
        </p:nvSpPr>
        <p:spPr>
          <a:xfrm>
            <a:off x="76509" y="1133698"/>
            <a:ext cx="2212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Suscripción </a:t>
            </a:r>
            <a:endParaRPr lang="es-EC" sz="1400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E1DC718-2F8D-9332-381D-2780E0907F14}"/>
              </a:ext>
            </a:extLst>
          </p:cNvPr>
          <p:cNvSpPr txBox="1"/>
          <p:nvPr/>
        </p:nvSpPr>
        <p:spPr>
          <a:xfrm>
            <a:off x="165592" y="424786"/>
            <a:ext cx="1790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Genero </a:t>
            </a:r>
            <a:endParaRPr lang="es-EC" sz="1400" b="1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6BDEE7C-5426-55BC-2415-A15B4F6D4EAF}"/>
              </a:ext>
            </a:extLst>
          </p:cNvPr>
          <p:cNvSpPr/>
          <p:nvPr/>
        </p:nvSpPr>
        <p:spPr>
          <a:xfrm>
            <a:off x="2828925" y="734668"/>
            <a:ext cx="2153926" cy="110820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A903FBB-E870-622D-7758-2B561BDF269D}"/>
              </a:ext>
            </a:extLst>
          </p:cNvPr>
          <p:cNvSpPr/>
          <p:nvPr/>
        </p:nvSpPr>
        <p:spPr>
          <a:xfrm>
            <a:off x="9797196" y="704503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B1431AE-6BEA-DDE8-227C-31BE69A2569D}"/>
              </a:ext>
            </a:extLst>
          </p:cNvPr>
          <p:cNvSpPr/>
          <p:nvPr/>
        </p:nvSpPr>
        <p:spPr>
          <a:xfrm>
            <a:off x="7514683" y="729809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F9A7080-7647-BC46-309D-14F95706529A}"/>
              </a:ext>
            </a:extLst>
          </p:cNvPr>
          <p:cNvSpPr/>
          <p:nvPr/>
        </p:nvSpPr>
        <p:spPr>
          <a:xfrm>
            <a:off x="5214611" y="741374"/>
            <a:ext cx="2153926" cy="111555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A40D73D-E9D4-D585-49AF-E061F58B719D}"/>
              </a:ext>
            </a:extLst>
          </p:cNvPr>
          <p:cNvSpPr txBox="1"/>
          <p:nvPr/>
        </p:nvSpPr>
        <p:spPr>
          <a:xfrm>
            <a:off x="3202839" y="1458521"/>
            <a:ext cx="159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Totales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1B05F9-F4E8-FB57-AC60-4537289A5E7C}"/>
              </a:ext>
            </a:extLst>
          </p:cNvPr>
          <p:cNvSpPr txBox="1"/>
          <p:nvPr/>
        </p:nvSpPr>
        <p:spPr>
          <a:xfrm>
            <a:off x="10211128" y="1449255"/>
            <a:ext cx="1326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leales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95C23D-1923-D176-BA2C-968EE2581040}"/>
              </a:ext>
            </a:extLst>
          </p:cNvPr>
          <p:cNvSpPr txBox="1"/>
          <p:nvPr/>
        </p:nvSpPr>
        <p:spPr>
          <a:xfrm>
            <a:off x="7852312" y="1458521"/>
            <a:ext cx="1703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recurrente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0E5448-62DD-4D99-36A5-FC8A833FA1BF}"/>
              </a:ext>
            </a:extLst>
          </p:cNvPr>
          <p:cNvSpPr txBox="1"/>
          <p:nvPr/>
        </p:nvSpPr>
        <p:spPr>
          <a:xfrm>
            <a:off x="5454008" y="1458521"/>
            <a:ext cx="184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Clientes nuevos </a:t>
            </a:r>
            <a:endParaRPr lang="es-EC" sz="1400" b="1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53C789F-AC1A-B0BD-D0BB-3730842B7229}"/>
              </a:ext>
            </a:extLst>
          </p:cNvPr>
          <p:cNvSpPr txBox="1"/>
          <p:nvPr/>
        </p:nvSpPr>
        <p:spPr>
          <a:xfrm>
            <a:off x="1493659" y="429411"/>
            <a:ext cx="1293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Tipo cliente </a:t>
            </a:r>
            <a:endParaRPr lang="es-EC" sz="1400" b="1" dirty="0"/>
          </a:p>
        </p:txBody>
      </p:sp>
      <p:pic>
        <p:nvPicPr>
          <p:cNvPr id="10" name="Gráfico 9" descr="Grupo de hombres">
            <a:extLst>
              <a:ext uri="{FF2B5EF4-FFF2-40B4-BE49-F238E27FC236}">
                <a16:creationId xmlns:a16="http://schemas.microsoft.com/office/drawing/2014/main" id="{314458D0-8E08-F4BB-CC52-3BB19F112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7938" y="780624"/>
            <a:ext cx="335406" cy="335406"/>
          </a:xfrm>
          <a:prstGeom prst="rect">
            <a:avLst/>
          </a:prstGeom>
        </p:spPr>
      </p:pic>
      <p:pic>
        <p:nvPicPr>
          <p:cNvPr id="15" name="Gráfico 14" descr="Usuario">
            <a:extLst>
              <a:ext uri="{FF2B5EF4-FFF2-40B4-BE49-F238E27FC236}">
                <a16:creationId xmlns:a16="http://schemas.microsoft.com/office/drawing/2014/main" id="{97DB8C3F-BAA6-B0B9-DE65-31B22876F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07898" y="716970"/>
            <a:ext cx="334800" cy="334800"/>
          </a:xfrm>
          <a:prstGeom prst="rect">
            <a:avLst/>
          </a:prstGeom>
        </p:spPr>
      </p:pic>
      <p:pic>
        <p:nvPicPr>
          <p:cNvPr id="21" name="Gráfico 20" descr="Usuario">
            <a:extLst>
              <a:ext uri="{FF2B5EF4-FFF2-40B4-BE49-F238E27FC236}">
                <a16:creationId xmlns:a16="http://schemas.microsoft.com/office/drawing/2014/main" id="{C35012EB-2A0E-BF8E-FC77-39BE1BEBF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8068" y="759365"/>
            <a:ext cx="334800" cy="334800"/>
          </a:xfrm>
          <a:prstGeom prst="rect">
            <a:avLst/>
          </a:prstGeom>
        </p:spPr>
      </p:pic>
      <p:pic>
        <p:nvPicPr>
          <p:cNvPr id="23" name="Gráfico 22" descr="Usuario">
            <a:extLst>
              <a:ext uri="{FF2B5EF4-FFF2-40B4-BE49-F238E27FC236}">
                <a16:creationId xmlns:a16="http://schemas.microsoft.com/office/drawing/2014/main" id="{52C0C18C-1261-E539-3BF9-D97B19C7F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5929" y="737188"/>
            <a:ext cx="334800" cy="334800"/>
          </a:xfrm>
          <a:prstGeom prst="rect">
            <a:avLst/>
          </a:prstGeom>
        </p:spPr>
      </p:pic>
      <p:pic>
        <p:nvPicPr>
          <p:cNvPr id="31" name="Gráfico 30" descr="Tarjeta de crédito">
            <a:extLst>
              <a:ext uri="{FF2B5EF4-FFF2-40B4-BE49-F238E27FC236}">
                <a16:creationId xmlns:a16="http://schemas.microsoft.com/office/drawing/2014/main" id="{1DB957D8-AE59-8C01-52A5-497A156A06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31855" y="4480932"/>
            <a:ext cx="360000" cy="360000"/>
          </a:xfrm>
          <a:prstGeom prst="rect">
            <a:avLst/>
          </a:prstGeom>
        </p:spPr>
      </p:pic>
      <p:pic>
        <p:nvPicPr>
          <p:cNvPr id="35" name="Gráfico 34" descr="Reseña de cliente">
            <a:extLst>
              <a:ext uri="{FF2B5EF4-FFF2-40B4-BE49-F238E27FC236}">
                <a16:creationId xmlns:a16="http://schemas.microsoft.com/office/drawing/2014/main" id="{5D3036EB-7134-EEAE-CA7E-E6B023830B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61098" y="2181011"/>
            <a:ext cx="334800" cy="334800"/>
          </a:xfrm>
          <a:prstGeom prst="rect">
            <a:avLst/>
          </a:prstGeom>
        </p:spPr>
      </p:pic>
      <p:pic>
        <p:nvPicPr>
          <p:cNvPr id="43" name="Gráfico 42" descr="Bolsa para la compra">
            <a:extLst>
              <a:ext uri="{FF2B5EF4-FFF2-40B4-BE49-F238E27FC236}">
                <a16:creationId xmlns:a16="http://schemas.microsoft.com/office/drawing/2014/main" id="{7F877B14-8B80-1F62-2752-62E34337E2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644455" y="2147289"/>
            <a:ext cx="334800" cy="3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16762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TM04033923[[fn=Profundidad]]</Template>
  <TotalTime>319</TotalTime>
  <Words>180</Words>
  <Application>Microsoft Office PowerPoint</Application>
  <PresentationFormat>Panorámica</PresentationFormat>
  <Paragraphs>55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Corbel</vt:lpstr>
      <vt:lpstr>Profundidad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Luis</dc:creator>
  <cp:lastModifiedBy>Jose Luis</cp:lastModifiedBy>
  <cp:revision>5</cp:revision>
  <dcterms:created xsi:type="dcterms:W3CDTF">2026-02-03T18:58:38Z</dcterms:created>
  <dcterms:modified xsi:type="dcterms:W3CDTF">2026-02-10T23:54:13Z</dcterms:modified>
</cp:coreProperties>
</file>